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594360"/>
            <a:ext cx="2377440" cy="2377440"/>
          </a:xfrm>
          <a:prstGeom prst="ellipse">
            <a:avLst/>
          </a:prstGeom>
          <a:solidFill>
            <a:srgbClr val="28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377440"/>
            <a:ext cx="1645920" cy="1645920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09560" y="3840480"/>
            <a:ext cx="1828800" cy="1828800"/>
          </a:xfrm>
          <a:prstGeom prst="ellipse">
            <a:avLst/>
          </a:prstGeom>
          <a:solidFill>
            <a:srgbClr val="5EC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ECAD0"/>
                </a:solidFill>
                <a:latin typeface="Aptos"/>
              </a:defRPr>
            </a:pPr>
            <a:r>
              <a:t>ANALYSTLAB AFRICA EXPERIENCE LAB  |  WEEK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498079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HealthConnect Rwanda</a:t>
            </a:r>
          </a:p>
          <a:p>
            <a:pPr algn="l"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Executive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69494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DAE8F0"/>
                </a:solidFill>
                <a:latin typeface="Aptos"/>
              </a:defRPr>
            </a:pPr>
            <a:r>
              <a:t>Healthcare operations and performance: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DAE8F0"/>
                </a:solidFill>
                <a:latin typeface="Aptos"/>
              </a:defRPr>
            </a:pPr>
            <a:r>
              <a:t>what the data shows and what to do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09160"/>
            <a:ext cx="68580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Presented by Victoria Kosgei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Data Analytics Track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5ECAD0"/>
                </a:solidFill>
                <a:latin typeface="Aptos"/>
              </a:defRPr>
            </a:pPr>
            <a:r>
              <a:t>EXECUTIVE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9191"/>
                </a:solidFill>
                <a:latin typeface="Aptos"/>
              </a:defRPr>
            </a:pPr>
            <a:r>
              <a:t>ANALYSTLAB AFRICA EXPERIENCE LAB  |  WEEK 6  | 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12742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482"/>
                </a:solidFill>
                <a:latin typeface="Aptos"/>
              </a:defRPr>
            </a:pPr>
            <a:r>
              <a:t>HealthConnect Rwanda  •  Executive Project Review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1188720"/>
          </a:xfrm>
          <a:prstGeom prst="rect">
            <a:avLst/>
          </a:prstGeom>
          <a:solidFill>
            <a:srgbClr val="28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2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TOTAL BILLED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19072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RWF 9.31B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6712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Across 60,000 bills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32588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325880"/>
            <a:ext cx="64008" cy="1188720"/>
          </a:xfrm>
          <a:prstGeom prst="rect">
            <a:avLst/>
          </a:prstGeom>
          <a:solidFill>
            <a:srgbClr val="328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444752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COLLECTION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719072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90.1%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16712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RWF 8.39B collected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32588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325880"/>
            <a:ext cx="64008" cy="1188720"/>
          </a:xfrm>
          <a:prstGeom prst="rect">
            <a:avLst/>
          </a:prstGeom>
          <a:solidFill>
            <a:srgbClr val="E5A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444752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OUTSTANDING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719072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RWF 920M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16712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11,887 bills with balances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32588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325880"/>
            <a:ext cx="64008" cy="1188720"/>
          </a:xfrm>
          <a:prstGeom prst="rect">
            <a:avLst/>
          </a:prstGeom>
          <a:solidFill>
            <a:srgbClr val="BE4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1444752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EMERGENCY VISITS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1719072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1 in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16712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33% of 5,000 appointments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2880360"/>
            <a:ext cx="53492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017520"/>
            <a:ext cx="5020055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12742"/>
                </a:solidFill>
                <a:latin typeface="Aptos"/>
              </a:defRPr>
            </a:pPr>
            <a:r>
              <a:t>Executive 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410712"/>
            <a:ext cx="4983479" cy="1938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63442"/>
                </a:solidFill>
                <a:latin typeface="Aptos"/>
              </a:defRPr>
            </a:pPr>
            <a:r>
              <a:t>•  HealthConnect’s network appears broadly balanced across patient demographics and visit volumes.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63442"/>
                </a:solidFill>
                <a:latin typeface="Aptos"/>
              </a:defRPr>
            </a:pPr>
            <a:r>
              <a:t>•  The clearest operational opportunities are collections, staffing aligned to demand and better data capture.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880360"/>
            <a:ext cx="53492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5020055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12742"/>
                </a:solidFill>
                <a:latin typeface="Aptos"/>
              </a:defRPr>
            </a:pPr>
            <a:r>
              <a:t>Important evidence 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410712"/>
            <a:ext cx="4983479" cy="1938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The appointment file contains 5,000 records, while billing, diagnosis and feedback data extend to as many as 60,000 records.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Facility, department and month analyses cover only about 8% of bills; interpret linked-bill findings cautiously.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9191"/>
                </a:solidFill>
                <a:latin typeface="Aptos"/>
              </a:defRPr>
            </a:pPr>
            <a:r>
              <a:t>ANALYSTLAB AFRICA EXPERIENCE LAB  |  WEEK 6  | 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12742"/>
                </a:solidFill>
                <a:latin typeface="Aptos"/>
              </a:defRPr>
            </a:pPr>
            <a:r>
              <a:t>What the Data Can — and Cannot —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482"/>
                </a:solidFill>
                <a:latin typeface="Aptos"/>
              </a:defRPr>
            </a:pPr>
            <a:r>
              <a:t>HealthConnect Rwanda  •  Executive Project Review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1143000"/>
          </a:xfrm>
          <a:prstGeom prst="rect">
            <a:avLst/>
          </a:prstGeom>
          <a:solidFill>
            <a:srgbClr val="28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2"/>
            <a:ext cx="3154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APPOINTMENTS IN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19072"/>
            <a:ext cx="31546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67128"/>
            <a:ext cx="3154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Billing / diagnosis references extend to APT060000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258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25880"/>
            <a:ext cx="64008" cy="1143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44752"/>
            <a:ext cx="3154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BILLS IN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719072"/>
            <a:ext cx="31546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60,000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67128"/>
            <a:ext cx="3154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Only 5,000 linked for appointment-based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3258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325880"/>
            <a:ext cx="64008" cy="1143000"/>
          </a:xfrm>
          <a:prstGeom prst="rect">
            <a:avLst/>
          </a:prstGeom>
          <a:solidFill>
            <a:srgbClr val="E5A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1444752"/>
            <a:ext cx="3154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BILL ANALYSIS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1719072"/>
            <a:ext cx="31546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~8%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167128"/>
            <a:ext cx="3154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Facility, department and month views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834640"/>
            <a:ext cx="534924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2971800"/>
            <a:ext cx="5020055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12742"/>
                </a:solidFill>
                <a:latin typeface="Aptos"/>
              </a:defRPr>
            </a:pPr>
            <a:r>
              <a:t>Known data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364992"/>
            <a:ext cx="4983479" cy="1984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63442"/>
                </a:solidFill>
                <a:latin typeface="Aptos"/>
              </a:defRPr>
            </a:pPr>
            <a:r>
              <a:t>•  No admissions, laboratory, prescription or referral tables were available in the source.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63442"/>
                </a:solidFill>
                <a:latin typeface="Aptos"/>
              </a:defRPr>
            </a:pPr>
            <a:r>
              <a:t>•  Facility names and locations were not supplied.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63442"/>
                </a:solidFill>
                <a:latin typeface="Aptos"/>
              </a:defRPr>
            </a:pPr>
            <a:r>
              <a:t>•  Department matches a facility in only 5% of appointments.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63442"/>
                </a:solidFill>
                <a:latin typeface="Aptos"/>
              </a:defRPr>
            </a:pPr>
            <a:r>
              <a:t>•  Billing status can contradict recorded payments.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834640"/>
            <a:ext cx="534924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971800"/>
            <a:ext cx="5020055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12742"/>
                </a:solidFill>
                <a:latin typeface="Aptos"/>
              </a:defRPr>
            </a:pPr>
            <a:r>
              <a:t>Implication for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64992"/>
            <a:ext cx="4983479" cy="1984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63442"/>
                </a:solidFill>
                <a:latin typeface="Aptos"/>
              </a:defRPr>
            </a:pPr>
            <a:r>
              <a:t>•  Avoid treating missing or unlinked records as zero activity.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63442"/>
                </a:solidFill>
                <a:latin typeface="Aptos"/>
              </a:defRPr>
            </a:pPr>
            <a:r>
              <a:t>•  Do not infer clinical outcomes that are not directly represented in the data.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63442"/>
                </a:solidFill>
                <a:latin typeface="Aptos"/>
              </a:defRPr>
            </a:pPr>
            <a:r>
              <a:t>•  Improve linkage and reconciliation before using detailed facility-level comparisons for performance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9191"/>
                </a:solidFill>
                <a:latin typeface="Aptos"/>
              </a:defRPr>
            </a:pPr>
            <a:r>
              <a:t>ANALYSTLAB AFRICA EXPERIENCE LAB  |  WEEK 6  | 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12742"/>
                </a:solidFill>
                <a:latin typeface="Aptos"/>
              </a:defRPr>
            </a:pPr>
            <a:r>
              <a:t>Patient Profile | 20,000 Patients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482"/>
                </a:solidFill>
                <a:latin typeface="Aptos"/>
              </a:defRPr>
            </a:pPr>
            <a:r>
              <a:t>HealthConnect Rwanda  •  Executive Project Review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1143000"/>
          </a:xfrm>
          <a:prstGeom prst="rect">
            <a:avLst/>
          </a:prstGeom>
          <a:solidFill>
            <a:srgbClr val="28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2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PATIENT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19072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20,000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67128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Registered patient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32588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325880"/>
            <a:ext cx="64008" cy="1143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444752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GENDER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719072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50 / 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167128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10,090 men; 9,910 women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32588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325880"/>
            <a:ext cx="64008" cy="1143000"/>
          </a:xfrm>
          <a:prstGeom prst="rect">
            <a:avLst/>
          </a:prstGeom>
          <a:solidFill>
            <a:srgbClr val="E5A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444752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AVERAGE 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719072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45 years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167128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Patient ages range from 0 to 90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32588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325880"/>
            <a:ext cx="64008" cy="1143000"/>
          </a:xfrm>
          <a:prstGeom prst="rect">
            <a:avLst/>
          </a:prstGeom>
          <a:solidFill>
            <a:srgbClr val="328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1444752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PROVINCE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1719072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167128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Approximately 19.6–20.5% each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2834640"/>
            <a:ext cx="53492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2971800"/>
            <a:ext cx="5020055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12742"/>
                </a:solidFill>
                <a:latin typeface="Aptos"/>
              </a:defRPr>
            </a:pPr>
            <a:r>
              <a:t>What stands 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364992"/>
            <a:ext cx="4983479" cy="18928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Patient counts are nearly evenly split by gender.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The five provinces each account for roughly one-fifth of the patient population.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There are 15 insurance IDs, each associated with about 1,300 patients.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834640"/>
            <a:ext cx="53492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2971800"/>
            <a:ext cx="5020055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12742"/>
                </a:solidFill>
                <a:latin typeface="Aptos"/>
              </a:defRPr>
            </a:pPr>
            <a:r>
              <a:t>Interpret carefully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364992"/>
            <a:ext cx="4983479" cy="18928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Reported insurance coverage reads as 100%, but no reference table confirms actual coverage.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Treat insurance IDs as scheme identifiers rather than proof of active insurance eligibility.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9191"/>
                </a:solidFill>
                <a:latin typeface="Aptos"/>
              </a:defRPr>
            </a:pPr>
            <a:r>
              <a:t>ANALYSTLAB AFRICA EXPERIENCE LAB  |  WEEK 6  | 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12742"/>
                </a:solidFill>
                <a:latin typeface="Aptos"/>
              </a:defRPr>
            </a:pPr>
            <a:r>
              <a:t>Appointment Activity | Stable Volume, Uneven Facility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482"/>
                </a:solidFill>
                <a:latin typeface="Aptos"/>
              </a:defRPr>
            </a:pPr>
            <a:r>
              <a:t>HealthConnect Rwanda  •  Executive Project Review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1143000"/>
          </a:xfrm>
          <a:prstGeom prst="rect">
            <a:avLst/>
          </a:prstGeom>
          <a:solidFill>
            <a:srgbClr val="28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2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APPOINTMENTS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19072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67128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Across the reporting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32588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325880"/>
            <a:ext cx="64008" cy="1143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444752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MONTHLY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719072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400–440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167128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No strong seasonal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32588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325880"/>
            <a:ext cx="64008" cy="1143000"/>
          </a:xfrm>
          <a:prstGeom prst="rect">
            <a:avLst/>
          </a:prstGeom>
          <a:solidFill>
            <a:srgbClr val="BE4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444752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EMERGENCY VISITS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719072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1,650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167128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33% of appointments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32588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325880"/>
            <a:ext cx="64008" cy="1143000"/>
          </a:xfrm>
          <a:prstGeom prst="rect">
            <a:avLst/>
          </a:prstGeom>
          <a:solidFill>
            <a:srgbClr val="E5A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1444752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FACILITY VISIT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1719072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28%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167128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217 to 278 visits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2834640"/>
            <a:ext cx="534924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2971800"/>
            <a:ext cx="5020055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12742"/>
                </a:solidFill>
                <a:latin typeface="Aptos"/>
              </a:defRPr>
            </a:pPr>
            <a:r>
              <a:t>Busiest facilities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364992"/>
            <a:ext cx="4983479" cy="1984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HF013: 278 appointments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HF014: 276 appointments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HF010: 275 appointments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HF001 and HF011: 273 appointments each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834640"/>
            <a:ext cx="534924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2971800"/>
            <a:ext cx="5020055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12742"/>
                </a:solidFill>
                <a:latin typeface="Aptos"/>
              </a:defRPr>
            </a:pPr>
            <a:r>
              <a:t>Quietest facility and implication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364992"/>
            <a:ext cx="4983479" cy="1984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HF019 recorded 217 appointments.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The difference between 217 and 278 visits suggests demand is not identical across facilities.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Use facility-level workload and service access data to guide staffing adjustments.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9191"/>
                </a:solidFill>
                <a:latin typeface="Aptos"/>
              </a:defRPr>
            </a:pPr>
            <a:r>
              <a:t>ANALYSTLAB AFRICA EXPERIENCE LAB  |  WEEK 6  | 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12742"/>
                </a:solidFill>
                <a:latin typeface="Aptos"/>
              </a:defRPr>
            </a:pPr>
            <a:r>
              <a:t>Diagnosis Profile | Five Categories Share Most Recorded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482"/>
                </a:solidFill>
                <a:latin typeface="Aptos"/>
              </a:defRPr>
            </a:pPr>
            <a:r>
              <a:t>HealthConnect Rwanda  •  Executive Project Review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647482"/>
                </a:solidFill>
                <a:latin typeface="Aptos"/>
              </a:defRPr>
            </a:pPr>
            <a:r>
              <a:t>60,000 diagnosis records in the source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21945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63442"/>
                </a:solidFill>
                <a:latin typeface="Aptos"/>
              </a:defRPr>
            </a:pPr>
            <a:r>
              <a:t>Gastritis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847088"/>
            <a:ext cx="6675119" cy="164592"/>
          </a:xfrm>
          <a:prstGeom prst="roundRect">
            <a:avLst/>
          </a:prstGeom>
          <a:solidFill>
            <a:srgbClr val="E1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7520" y="1847088"/>
            <a:ext cx="6159315" cy="164592"/>
          </a:xfrm>
          <a:prstGeom prst="round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02367" y="1810512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12742"/>
                </a:solidFill>
                <a:latin typeface="Aptos"/>
              </a:defRPr>
            </a:pPr>
            <a:r>
              <a:t>20.3%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21945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63442"/>
                </a:solidFill>
                <a:latin typeface="Aptos"/>
              </a:defRPr>
            </a:pPr>
            <a:r>
              <a:t>Diabetes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414016"/>
            <a:ext cx="6675119" cy="164592"/>
          </a:xfrm>
          <a:prstGeom prst="roundRect">
            <a:avLst/>
          </a:prstGeom>
          <a:solidFill>
            <a:srgbClr val="E1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17520" y="2414016"/>
            <a:ext cx="6098632" cy="164592"/>
          </a:xfrm>
          <a:prstGeom prst="round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02367" y="23774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12742"/>
                </a:solidFill>
                <a:latin typeface="Aptos"/>
              </a:defRPr>
            </a:pPr>
            <a:r>
              <a:t>20.1%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62656"/>
            <a:ext cx="21945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63442"/>
                </a:solidFill>
                <a:latin typeface="Aptos"/>
              </a:defRPr>
            </a:pPr>
            <a:r>
              <a:t>Hypertension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980944"/>
            <a:ext cx="6675119" cy="164592"/>
          </a:xfrm>
          <a:prstGeom prst="roundRect">
            <a:avLst/>
          </a:prstGeom>
          <a:solidFill>
            <a:srgbClr val="E1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17520" y="2980944"/>
            <a:ext cx="6098632" cy="164592"/>
          </a:xfrm>
          <a:prstGeom prst="round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02367" y="2944368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12742"/>
                </a:solidFill>
                <a:latin typeface="Aptos"/>
              </a:defRPr>
            </a:pPr>
            <a:r>
              <a:t>20.1%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29584"/>
            <a:ext cx="21945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63442"/>
                </a:solidFill>
                <a:latin typeface="Aptos"/>
              </a:defRPr>
            </a:pPr>
            <a:r>
              <a:t>Malaria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3547872"/>
            <a:ext cx="6675119" cy="164592"/>
          </a:xfrm>
          <a:prstGeom prst="roundRect">
            <a:avLst/>
          </a:prstGeom>
          <a:solidFill>
            <a:srgbClr val="E1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17520" y="3547872"/>
            <a:ext cx="6007607" cy="164592"/>
          </a:xfrm>
          <a:prstGeom prst="round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02367" y="3511296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12742"/>
                </a:solidFill>
                <a:latin typeface="Aptos"/>
              </a:defRPr>
            </a:pPr>
            <a:r>
              <a:t>19.8%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96512"/>
            <a:ext cx="21945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63442"/>
                </a:solidFill>
                <a:latin typeface="Aptos"/>
              </a:defRPr>
            </a:pPr>
            <a:r>
              <a:t>Upper respiratory infection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4114800"/>
            <a:ext cx="6675119" cy="164592"/>
          </a:xfrm>
          <a:prstGeom prst="roundRect">
            <a:avLst/>
          </a:prstGeom>
          <a:solidFill>
            <a:srgbClr val="E1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17520" y="4114800"/>
            <a:ext cx="5946925" cy="164592"/>
          </a:xfrm>
          <a:prstGeom prst="round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02367" y="4078224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12742"/>
                </a:solidFill>
                <a:latin typeface="Aptos"/>
              </a:defRPr>
            </a:pPr>
            <a:r>
              <a:t>19.6%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983480"/>
            <a:ext cx="10607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120640"/>
            <a:ext cx="10277856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12742"/>
                </a:solidFill>
                <a:latin typeface="Aptos"/>
              </a:defRPr>
            </a:pPr>
            <a:r>
              <a:t>Planning implication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513832"/>
            <a:ext cx="102412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63442"/>
                </a:solidFill>
                <a:latin typeface="Aptos"/>
              </a:defRPr>
            </a:pPr>
            <a:r>
              <a:t>•  Diabetes and hypertension together account for about 40% of recorded diagnoses, supporting attention to long-term condition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9191"/>
                </a:solidFill>
                <a:latin typeface="Aptos"/>
              </a:defRPr>
            </a:pPr>
            <a:r>
              <a:t>ANALYSTLAB AFRICA EXPERIENCE LAB  |  WEEK 6  | 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12742"/>
                </a:solidFill>
                <a:latin typeface="Aptos"/>
              </a:defRPr>
            </a:pPr>
            <a:r>
              <a:t>Revenue &amp; Collections | About 10% Remains Outstanding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482"/>
                </a:solidFill>
                <a:latin typeface="Aptos"/>
              </a:defRPr>
            </a:pPr>
            <a:r>
              <a:t>HealthConnect Rwanda  •  Executive Project Review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1188720"/>
          </a:xfrm>
          <a:prstGeom prst="rect">
            <a:avLst/>
          </a:prstGeom>
          <a:solidFill>
            <a:srgbClr val="28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2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BILLED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19072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RWF 9.31B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6712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Across 60,000 bills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32588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325880"/>
            <a:ext cx="64008" cy="1188720"/>
          </a:xfrm>
          <a:prstGeom prst="rect">
            <a:avLst/>
          </a:prstGeom>
          <a:solidFill>
            <a:srgbClr val="328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444752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COLLECTED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719072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RWF 8.39B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16712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90.1% collection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32588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325880"/>
            <a:ext cx="64008" cy="1188720"/>
          </a:xfrm>
          <a:prstGeom prst="rect">
            <a:avLst/>
          </a:prstGeom>
          <a:solidFill>
            <a:srgbClr val="E5A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444752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OUTSTANDING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719072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RWF 920M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16712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Across 11,887 bills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32588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325880"/>
            <a:ext cx="64008" cy="1188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1444752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CLAIMS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1719072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12742"/>
                </a:solidFill>
                <a:latin typeface="Aptos"/>
              </a:defRPr>
            </a:pPr>
            <a:r>
              <a:t>42,036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16712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7482"/>
                </a:solidFill>
                <a:latin typeface="Aptos"/>
              </a:defRPr>
            </a:pPr>
            <a:r>
              <a:t>Across four insurers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2880360"/>
            <a:ext cx="53492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017520"/>
            <a:ext cx="5020055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12742"/>
                </a:solidFill>
                <a:latin typeface="Aptos"/>
              </a:defRPr>
            </a:pPr>
            <a:r>
              <a:t>Facility revenue examples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410712"/>
            <a:ext cx="4983479" cy="18928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63442"/>
                </a:solidFill>
                <a:latin typeface="Aptos"/>
              </a:defRPr>
            </a:pPr>
            <a:r>
              <a:t>•  HF011: RWF 44.2M billed; 90.1% collection rate.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63442"/>
                </a:solidFill>
                <a:latin typeface="Aptos"/>
              </a:defRPr>
            </a:pPr>
            <a:r>
              <a:t>•  HF006: RWF 43.6M billed; 92.2% collection rate.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63442"/>
                </a:solidFill>
                <a:latin typeface="Aptos"/>
              </a:defRPr>
            </a:pPr>
            <a:r>
              <a:t>•  HF013: RWF 43.5M billed; 90.7% collection rate.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63442"/>
                </a:solidFill>
                <a:latin typeface="Aptos"/>
              </a:defRPr>
            </a:pPr>
            <a:r>
              <a:t>•  HF005: RWF 34.9M billed; 88.9% collection rate.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880360"/>
            <a:ext cx="53492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5020055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12742"/>
                </a:solidFill>
                <a:latin typeface="Aptos"/>
              </a:defRPr>
            </a:pPr>
            <a:r>
              <a:t>Claims and payment mix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410712"/>
            <a:ext cx="4983479" cy="18928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63442"/>
                </a:solidFill>
                <a:latin typeface="Aptos"/>
              </a:defRPr>
            </a:pPr>
            <a:r>
              <a:t>•  Insurer approval ranges from 49.3% to 50.9%; remaining claims are pending, with none reported rejected.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63442"/>
                </a:solidFill>
                <a:latin typeface="Aptos"/>
              </a:defRPr>
            </a:pPr>
            <a:r>
              <a:t>•  Payment split: card 25.2%, mobile money 25.0%, insurance 24.9%, cash 24.8%.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63442"/>
                </a:solidFill>
                <a:latin typeface="Aptos"/>
              </a:defRPr>
            </a:pPr>
            <a:r>
              <a:t>•  Cardiology represents 11.2% of linked billing.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9191"/>
                </a:solidFill>
                <a:latin typeface="Aptos"/>
              </a:defRPr>
            </a:pPr>
            <a:r>
              <a:t>ANALYSTLAB AFRICA EXPERIENCE LAB  |  WEEK 6  | 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12742"/>
                </a:solidFill>
                <a:latin typeface="Aptos"/>
              </a:defRPr>
            </a:pPr>
            <a:r>
              <a:t>Staffing, Workload &amp; Patient Ratings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482"/>
                </a:solidFill>
                <a:latin typeface="Aptos"/>
              </a:defRPr>
            </a:pPr>
            <a:r>
              <a:t>HealthConnect Rwanda  •  Executive Project Review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47482"/>
                </a:solidFill>
                <a:latin typeface="Aptos"/>
              </a:defRPr>
            </a:pPr>
            <a:r>
              <a:t>All facilities report 61 or 64 staff, while visit volumes and ratings vary.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4630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Facility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417320" cy="347472"/>
          </a:xfrm>
          <a:prstGeom prst="rect">
            <a:avLst/>
          </a:prstGeom>
          <a:solidFill>
            <a:srgbClr val="11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65376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Facility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828800"/>
            <a:ext cx="14630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Visits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1828800"/>
            <a:ext cx="1417320" cy="347472"/>
          </a:xfrm>
          <a:prstGeom prst="rect">
            <a:avLst/>
          </a:prstGeom>
          <a:solidFill>
            <a:srgbClr val="11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865376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Visits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828800"/>
            <a:ext cx="14630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Staff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1828800"/>
            <a:ext cx="1417320" cy="347472"/>
          </a:xfrm>
          <a:prstGeom prst="rect">
            <a:avLst/>
          </a:prstGeom>
          <a:solidFill>
            <a:srgbClr val="11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1865376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Staff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828800"/>
            <a:ext cx="14630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Visits / staff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828800"/>
            <a:ext cx="1417320" cy="347472"/>
          </a:xfrm>
          <a:prstGeom prst="rect">
            <a:avLst/>
          </a:prstGeom>
          <a:solidFill>
            <a:srgbClr val="11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1865376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Visits / staff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828800"/>
            <a:ext cx="14630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Avg. rating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828800"/>
            <a:ext cx="1417320" cy="347472"/>
          </a:xfrm>
          <a:prstGeom prst="rect">
            <a:avLst/>
          </a:prstGeom>
          <a:solidFill>
            <a:srgbClr val="11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865376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Avg. rating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221992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313432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63442"/>
                </a:solidFill>
                <a:latin typeface="Aptos"/>
              </a:defRPr>
            </a:pPr>
            <a:r>
              <a:t>HF013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2221992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0" y="2313432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278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2221992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2313432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61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2221992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2313432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4.56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2221992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2313432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2.77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2752344"/>
            <a:ext cx="1417320" cy="475488"/>
          </a:xfrm>
          <a:prstGeom prst="rect">
            <a:avLst/>
          </a:prstGeom>
          <a:solidFill>
            <a:srgbClr val="EBF1F5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2843784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63442"/>
                </a:solidFill>
                <a:latin typeface="Aptos"/>
              </a:defRPr>
            </a:pPr>
            <a:r>
              <a:t>HF014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2752344"/>
            <a:ext cx="1417320" cy="475488"/>
          </a:xfrm>
          <a:prstGeom prst="rect">
            <a:avLst/>
          </a:prstGeom>
          <a:solidFill>
            <a:srgbClr val="EBF1F5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8880" y="2843784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276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0" y="2752344"/>
            <a:ext cx="1417320" cy="475488"/>
          </a:xfrm>
          <a:prstGeom prst="rect">
            <a:avLst/>
          </a:prstGeom>
          <a:solidFill>
            <a:srgbClr val="EBF1F5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2843784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61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2752344"/>
            <a:ext cx="1417320" cy="475488"/>
          </a:xfrm>
          <a:prstGeom prst="rect">
            <a:avLst/>
          </a:prstGeom>
          <a:solidFill>
            <a:srgbClr val="EBF1F5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0" y="2843784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4.52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2752344"/>
            <a:ext cx="1417320" cy="475488"/>
          </a:xfrm>
          <a:prstGeom prst="rect">
            <a:avLst/>
          </a:prstGeom>
          <a:solidFill>
            <a:srgbClr val="EBF1F5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2843784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2.77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328269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374136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63442"/>
                </a:solidFill>
                <a:latin typeface="Aptos"/>
              </a:defRPr>
            </a:pPr>
            <a:r>
              <a:t>HF011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8880" y="328269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0" y="3374136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273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328269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0" y="3374136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61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0" y="328269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0" y="3374136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4.48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0" y="328269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0" y="3374136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3.19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3813048"/>
            <a:ext cx="1417320" cy="475488"/>
          </a:xfrm>
          <a:prstGeom prst="rect">
            <a:avLst/>
          </a:prstGeom>
          <a:solidFill>
            <a:srgbClr val="EBF1F5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3904487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63442"/>
                </a:solidFill>
                <a:latin typeface="Aptos"/>
              </a:defRPr>
            </a:pPr>
            <a:r>
              <a:t>HF019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68880" y="3813048"/>
            <a:ext cx="1417320" cy="475488"/>
          </a:xfrm>
          <a:prstGeom prst="rect">
            <a:avLst/>
          </a:prstGeom>
          <a:solidFill>
            <a:srgbClr val="EBF1F5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68880" y="3904487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217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31920" y="3813048"/>
            <a:ext cx="1417320" cy="475488"/>
          </a:xfrm>
          <a:prstGeom prst="rect">
            <a:avLst/>
          </a:prstGeom>
          <a:solidFill>
            <a:srgbClr val="EBF1F5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0" y="3904487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61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03520" y="3813048"/>
            <a:ext cx="1417320" cy="475488"/>
          </a:xfrm>
          <a:prstGeom prst="rect">
            <a:avLst/>
          </a:prstGeom>
          <a:solidFill>
            <a:srgbClr val="EBF1F5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3520" y="3904487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3.56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2320" y="3813048"/>
            <a:ext cx="1417320" cy="475488"/>
          </a:xfrm>
          <a:prstGeom prst="rect">
            <a:avLst/>
          </a:prstGeom>
          <a:solidFill>
            <a:srgbClr val="EBF1F5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0" y="3904487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2.97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" y="434340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443484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63442"/>
                </a:solidFill>
                <a:latin typeface="Aptos"/>
              </a:defRPr>
            </a:pPr>
            <a:r>
              <a:t>HF004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68880" y="434340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68880" y="443484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222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31920" y="434340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31920" y="443484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03520" y="434340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03520" y="443484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3.47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32320" y="434340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2320" y="443484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263442"/>
                </a:solidFill>
                <a:latin typeface="Aptos"/>
              </a:defRPr>
            </a:pPr>
            <a:r>
              <a:t>2.99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412480" y="1828800"/>
            <a:ext cx="29718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77072" y="1965960"/>
            <a:ext cx="2642616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12742"/>
                </a:solidFill>
                <a:latin typeface="Aptos"/>
              </a:defRPr>
            </a:pPr>
            <a:r>
              <a:t>What to investigate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95359" y="2359152"/>
            <a:ext cx="2606040" cy="2304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63442"/>
                </a:solidFill>
                <a:latin typeface="Aptos"/>
              </a:defRPr>
            </a:pPr>
            <a:r>
              <a:t>•  HF013 and HF014 are busiest and both average 2.77 / 5.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63442"/>
                </a:solidFill>
                <a:latin typeface="Aptos"/>
              </a:defRPr>
            </a:pPr>
            <a:r>
              <a:t>•  HF014 also collects below average.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63442"/>
                </a:solidFill>
                <a:latin typeface="Aptos"/>
              </a:defRPr>
            </a:pPr>
            <a:r>
              <a:t>•  Ratings are based on 72–102 reviews per facility; small gaps may be due to chance.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548640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12742"/>
                </a:solidFill>
                <a:latin typeface="Aptos"/>
              </a:defRPr>
            </a:pPr>
            <a:r>
              <a:t>Recommendation: match staffing to demand, then investigate the patient journey at HF013 and HF014 before making large workforce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009191"/>
                </a:solidFill>
                <a:latin typeface="Aptos"/>
              </a:defRPr>
            </a:pPr>
            <a:r>
              <a:t>ANALYSTLAB AFRICA EXPERIENCE LAB  |  WEEK 6  | 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12742"/>
                </a:solidFill>
                <a:latin typeface="Aptos"/>
              </a:defRPr>
            </a:pPr>
            <a:r>
              <a:t>Six Priority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482"/>
                </a:solidFill>
                <a:latin typeface="Aptos"/>
              </a:defRPr>
            </a:pPr>
            <a:r>
              <a:t>HealthConnect Rwanda  •  Executive Project Review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474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94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1572768"/>
            <a:ext cx="530352" cy="53035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28216"/>
            <a:ext cx="40233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17904"/>
            <a:ext cx="4343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12742"/>
                </a:solidFill>
                <a:latin typeface="Aptos"/>
              </a:defRPr>
            </a:pPr>
            <a:r>
              <a:t>Tighten collections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47088"/>
            <a:ext cx="42976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63442"/>
                </a:solidFill>
                <a:latin typeface="Aptos"/>
              </a:defRPr>
            </a:pPr>
            <a:r>
              <a:t>Pursue the 11,887 bills with balances and reconcile billing status against actual payments.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71600"/>
            <a:ext cx="5394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19672" y="1572768"/>
            <a:ext cx="530352" cy="53035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28216"/>
            <a:ext cx="40233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517904"/>
            <a:ext cx="4343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12742"/>
                </a:solidFill>
                <a:latin typeface="Aptos"/>
              </a:defRPr>
            </a:pPr>
            <a:r>
              <a:t>Match staffing to demand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847088"/>
            <a:ext cx="42976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63442"/>
                </a:solidFill>
                <a:latin typeface="Aptos"/>
              </a:defRPr>
            </a:pPr>
            <a:r>
              <a:t>Review shifts and workload at HF013, HF014, HF010, HF001 and HF011.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07791"/>
            <a:ext cx="5394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1" y="3108960"/>
            <a:ext cx="530352" cy="530352"/>
          </a:xfrm>
          <a:prstGeom prst="ellipse">
            <a:avLst/>
          </a:prstGeom>
          <a:solidFill>
            <a:srgbClr val="E5A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264408"/>
            <a:ext cx="40233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1274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054096"/>
            <a:ext cx="4343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12742"/>
                </a:solidFill>
                <a:latin typeface="Aptos"/>
              </a:defRPr>
            </a:pPr>
            <a:r>
              <a:t>Investigate HF014 and HF013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383279"/>
            <a:ext cx="42976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63442"/>
                </a:solidFill>
                <a:latin typeface="Aptos"/>
              </a:defRPr>
            </a:pPr>
            <a:r>
              <a:t>Review waiting times, patient feedback and collection performance at the busiest facilities.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907791"/>
            <a:ext cx="5394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19672" y="3108960"/>
            <a:ext cx="530352" cy="53035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264408"/>
            <a:ext cx="40233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054096"/>
            <a:ext cx="4343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12742"/>
                </a:solidFill>
                <a:latin typeface="Aptos"/>
              </a:defRPr>
            </a:pPr>
            <a:r>
              <a:t>Review the emergency pathway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383279"/>
            <a:ext cx="42976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63442"/>
                </a:solidFill>
                <a:latin typeface="Aptos"/>
              </a:defRPr>
            </a:pPr>
            <a:r>
              <a:t>One visit in three is an emergency; capture the reason and assess avoidable demand.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443983"/>
            <a:ext cx="5394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4671" y="4645151"/>
            <a:ext cx="530352" cy="530352"/>
          </a:xfrm>
          <a:prstGeom prst="ellipse">
            <a:avLst/>
          </a:prstGeom>
          <a:solidFill>
            <a:srgbClr val="E5A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800599"/>
            <a:ext cx="40233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1274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590288"/>
            <a:ext cx="4343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12742"/>
                </a:solidFill>
                <a:latin typeface="Aptos"/>
              </a:defRPr>
            </a:pPr>
            <a:r>
              <a:t>Set insurer targets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919471"/>
            <a:ext cx="42976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63442"/>
                </a:solidFill>
                <a:latin typeface="Aptos"/>
              </a:defRPr>
            </a:pPr>
            <a:r>
              <a:t>Compare approval and pending rates by insurer; begin with Radiant and track resolution times.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443983"/>
            <a:ext cx="5394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19672" y="4645151"/>
            <a:ext cx="530352" cy="53035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800599"/>
            <a:ext cx="40233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590288"/>
            <a:ext cx="4343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12742"/>
                </a:solidFill>
                <a:latin typeface="Aptos"/>
              </a:defRPr>
            </a:pPr>
            <a:r>
              <a:t>Fix data capture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919471"/>
            <a:ext cx="42976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63442"/>
                </a:solidFill>
                <a:latin typeface="Aptos"/>
              </a:defRPr>
            </a:pPr>
            <a:r>
              <a:t>Load missing appointments, facility names, admissions, laboratory and pharmacy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5ECAD0"/>
                </a:solidFill>
                <a:latin typeface="Aptos"/>
              </a:defRPr>
            </a:pPr>
            <a:r>
              <a:t>HEALTHCONNECT RWANDA  | 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From dashboard insight to operational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2120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965960"/>
            <a:ext cx="4882896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12742"/>
                </a:solidFill>
                <a:latin typeface="Aptos"/>
              </a:defRPr>
            </a:pPr>
            <a:r>
              <a:t>Immediate priorities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59152"/>
            <a:ext cx="4846320" cy="1938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Recover outstanding balances through a bill-level collection worklist.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Review workload and patient feedback at high-volume facilities.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Set insurer-specific claim follow-up targets.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2120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1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965960"/>
            <a:ext cx="4882896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12742"/>
                </a:solidFill>
                <a:latin typeface="Aptos"/>
              </a:defRPr>
            </a:pPr>
            <a:r>
              <a:t>Week 7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359152"/>
            <a:ext cx="4846320" cy="1938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Reconcile appointment, billing and payment records.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Improve data completeness and facility/department mapping.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63442"/>
                </a:solidFill>
                <a:latin typeface="Aptos"/>
              </a:defRPr>
            </a:pPr>
            <a:r>
              <a:t>•  Recheck KPI definitions and refresh the dashboard after data fixes.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2064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DEEDF4"/>
                </a:solidFill>
                <a:latin typeface="Aptos"/>
              </a:defRPr>
            </a:pPr>
            <a:r>
              <a:t>The strongest next step is not simply adding more visuals: it is improving the completeness and consistency of the data that decision-makers rely 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5ECAD0"/>
                </a:solidFill>
                <a:latin typeface="Aptos"/>
              </a:defRPr>
            </a:pPr>
            <a:r>
              <a:t>Victoria Kosgei  •  AnalystLab Africa Experience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